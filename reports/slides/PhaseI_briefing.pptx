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claim in one sentence: an hourly model can be adapted to a region using only daily observations, and it improves at the hourly scale. The premise is enforced in code, not in wording: the target stations' hourly targets are hidden from the loss and from epoch selection, and scoring uses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short. The point is that this is a coverage problem. Do not get drawn into model architecture here; the model is sMTS-LSTM from Gauch et al. 2021 and the contribution is the transfer protocol.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Spend the most time here.</a:t>
            </a:r>
          </a:p>
          <a:p/>
          <a:p>
            <a:r>
              <a:t>Random split: 0.527 -&gt; 0.626, 68% of 8,843 gauges improve.</a:t>
            </a:r>
          </a:p>
          <a:p>
            <a:r>
              <a:t>Blocked split: 0.426 -&gt; 0.622, 76% improve. The blocked split is 120 k-means blocks on the sphere packed into 5 folds, which moves the median distance to the nearest trainable gauge from 10.4 km to 94.9 km.</a:t>
            </a:r>
          </a:p>
          <a:p>
            <a:r>
              <a:t>Africa: 0.114 -&gt; 0.576, 88% of 282 basins improve. ERA5-Land is at -0.362, and it has no river routing, so it is a reference rather than a fair hydrological competitor.</a:t>
            </a:r>
          </a:p>
          <a:p/>
          <a:p>
            <a:r>
              <a:t>If asked why the gain is larger under blocking: there is more deficit to remove, because the zero-shot model no longer has a near neighbour to lean 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for scale and generality, not for a number. Four continents, six agencies, 8,843 gauges plus 282 African basins.</a:t>
            </a:r>
          </a:p>
          <a:p/>
          <a:p>
            <a:r>
              <a:t>Australia and the western United States stay dark in both panels. Those are the arid and highly regulated catchments, where a rainfall-runoff model has the least to work with. Saying so before being asked is better than being asked.</a:t>
            </a:r>
          </a:p>
          <a:p/>
          <a:p>
            <a:r>
              <a:t>The report's version of this map has twelve panels and adds the three KGE components and a normalised difference column. That density suits a page, not a glance.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both the mechanism and the limitation, and saying so is the point. Daily supervision recalibrates magnitude. It does not teach sub-daily timing, and no daily signal could.</a:t>
            </a:r>
          </a:p>
          <a:p/>
          <a:p>
            <a:r>
              <a:t>Expect the question: is this just a bias correction? Current answer: if it were only a rescaling, hourly supervision should do everything daily does and add timing, and it does not. It loses by 0.021 and it loses on alpha. The direct test is the rescaling control, still running.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makes the result felt rather than reported. Point at the lower panel: blue peaks at about 7 mm/d against an observed 19, orange reaches about 10. The correction is real and it is incomplete, and both are visible.</a:t>
            </a:r>
          </a:p>
          <a:p/>
          <a:p>
            <a:r>
              <a:t>Chosen by rank, the median and upper quartile, so the pair cannot drift into being the two that happen to look best. The lower-quartile catchment is nearly flat all year and shows an honest but unreadable case; it is in the report as fig07 with all three.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Fold-to-fold spread also rises sharply under blocking, from 0.0035 to 0.0411, a factor of 11.8, because each blocked fold holds out different continents and climates rather than a different sample of the same regions. Report the blocked numbers as the honest ones; the random split flatters both the level and the precision.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transfer-learning papers do not report what the source domain loses. This slide is about method rigour as much as about replay.</a:t>
            </a:r>
          </a:p>
          <a:p/>
          <a:p>
            <a:r>
              <a:t>Note the asymmetry that matters: blocking more than doubles the damage, from 0.051 to 0.120, and replay then returns a larger share of it. So replay is not an artefact of the easy split.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two slides' worth of runs are what moved the claim from 'daily data is a workable substitute' to 'daily aggregate supervision is the better transfer signal'. Both objections are the reader's natural next thought, and neither is answerable by argument.</a:t>
            </a:r>
          </a:p>
          <a:p/>
          <a:p>
            <a:r>
              <a:t>Remaining caveat, state it if asked: hyperparameters other than the learning rate were inherited from the daily configuration.</a:t>
            </a:r>
          </a:p>
          <a:p/>
          <a:p>
            <a:r>
              <a:t>The plausible mechanism for the second result is that the daily objective is a constrained one, weighting the aggregate term at 0.5 and leaving the hourly branch frozen, and the constraint regularises.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next step worth mentioning: the daily arm's own best rate is 2e-4, not the 5e-4 used throughout, which would lift the headline gain from +0.058 to +0.064. Re-running the blocked, Africa and replay arms at that rate is a few hours and would make every number consistent at the better configuration.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194560"/>
            <a:ext cx="10515600" cy="1463040"/>
          </a:xfrm>
          <a:prstGeom prst="rect">
            <a:avLst/>
          </a:prstGeom>
          <a:noFill/>
        </p:spPr>
        <p:txBody>
          <a:bodyPr wrap="square">
            <a:spAutoFit/>
          </a:bodyPr>
          <a:lstStyle/>
          <a:p>
            <a:pPr algn="l">
              <a:lnSpc>
                <a:spcPct val="115000"/>
              </a:lnSpc>
            </a:pPr>
            <a:r>
              <a:rPr sz="4000" b="1">
                <a:solidFill>
                  <a:srgbClr val="1A1A1A"/>
                </a:solidFill>
                <a:latin typeface="Calibri"/>
              </a:rPr>
              <a:t>Daily observations are enough to transfer</a:t>
            </a:r>
          </a:p>
          <a:p>
            <a:pPr algn="l">
              <a:lnSpc>
                <a:spcPct val="115000"/>
              </a:lnSpc>
            </a:pPr>
            <a:r>
              <a:rPr sz="4000" b="1">
                <a:solidFill>
                  <a:srgbClr val="1A1A1A"/>
                </a:solidFill>
                <a:latin typeface="Calibri"/>
              </a:rPr>
              <a:t>an hourly streamflow model</a:t>
            </a:r>
          </a:p>
        </p:txBody>
      </p:sp>
      <p:sp>
        <p:nvSpPr>
          <p:cNvPr id="3" name="TextBox 2"/>
          <p:cNvSpPr txBox="1"/>
          <p:nvPr/>
        </p:nvSpPr>
        <p:spPr>
          <a:xfrm>
            <a:off x="822960" y="3749039"/>
            <a:ext cx="10515600" cy="914400"/>
          </a:xfrm>
          <a:prstGeom prst="rect">
            <a:avLst/>
          </a:prstGeom>
          <a:noFill/>
        </p:spPr>
        <p:txBody>
          <a:bodyPr wrap="square">
            <a:spAutoFit/>
          </a:bodyPr>
          <a:lstStyle/>
          <a:p>
            <a:pPr algn="l">
              <a:lnSpc>
                <a:spcPct val="115000"/>
              </a:lnSpc>
            </a:pPr>
            <a:r>
              <a:rPr sz="1700" b="0">
                <a:solidFill>
                  <a:srgbClr val="5A5A58"/>
                </a:solidFill>
                <a:latin typeface="Calibri"/>
              </a:rPr>
              <a:t>Phase I, global hourly streamflow. 8,843 gauges across six agencies, five-fold cross-validation,</a:t>
            </a:r>
          </a:p>
          <a:p>
            <a:pPr algn="l">
              <a:lnSpc>
                <a:spcPct val="115000"/>
              </a:lnSpc>
            </a:pPr>
            <a:r>
              <a:rPr sz="1700" b="0">
                <a:solidFill>
                  <a:srgbClr val="5A5A58"/>
                </a:solidFill>
                <a:latin typeface="Calibri"/>
              </a:rPr>
              <a:t>plus 282 African basins as an external test.</a:t>
            </a:r>
          </a:p>
        </p:txBody>
      </p:sp>
      <p:sp>
        <p:nvSpPr>
          <p:cNvPr id="4" name="TextBox 3"/>
          <p:cNvSpPr txBox="1"/>
          <p:nvPr/>
        </p:nvSpPr>
        <p:spPr>
          <a:xfrm>
            <a:off x="822960" y="5669280"/>
            <a:ext cx="10515600" cy="457200"/>
          </a:xfrm>
          <a:prstGeom prst="rect">
            <a:avLst/>
          </a:prstGeom>
          <a:noFill/>
        </p:spPr>
        <p:txBody>
          <a:bodyPr wrap="square">
            <a:spAutoFit/>
          </a:bodyPr>
          <a:lstStyle/>
          <a:p>
            <a:pPr algn="l">
              <a:lnSpc>
                <a:spcPct val="115000"/>
              </a:lnSpc>
            </a:pPr>
            <a:r>
              <a:rPr sz="1400" b="0">
                <a:solidFill>
                  <a:srgbClr val="5A5A58"/>
                </a:solidFill>
                <a:latin typeface="Calibri"/>
              </a:rPr>
              <a:t>Weikang Kong  ·  KAUST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15000"/>
              </a:lnSpc>
            </a:pPr>
            <a:r>
              <a:rPr sz="2700" b="1">
                <a:solidFill>
                  <a:srgbClr val="1A1A1A"/>
                </a:solidFill>
                <a:latin typeface="Calibri"/>
              </a:rPr>
              <a:t>The problem is coverage, not accuracy</a:t>
            </a:r>
          </a:p>
        </p:txBody>
      </p:sp>
      <p:sp>
        <p:nvSpPr>
          <p:cNvPr id="3" name="Rectangle 2"/>
          <p:cNvSpPr/>
          <p:nvPr/>
        </p:nvSpPr>
        <p:spPr>
          <a:xfrm>
            <a:off x="640080" y="1207008"/>
            <a:ext cx="10908792" cy="9525"/>
          </a:xfrm>
          <a:prstGeom prst="rect">
            <a:avLst/>
          </a:prstGeom>
          <a:solidFill>
            <a:srgbClr val="D8D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600200"/>
            <a:ext cx="10881360" cy="4754880"/>
          </a:xfrm>
          <a:prstGeom prst="rect">
            <a:avLst/>
          </a:prstGeom>
          <a:noFill/>
        </p:spPr>
        <p:txBody>
          <a:bodyPr wrap="square">
            <a:spAutoFit/>
          </a:bodyPr>
          <a:lstStyle/>
          <a:p>
            <a:pPr algn="l">
              <a:lnSpc>
                <a:spcPct val="145000"/>
              </a:lnSpc>
            </a:pPr>
            <a:r>
              <a:rPr sz="1800" b="0">
                <a:solidFill>
                  <a:srgbClr val="1A1A1A"/>
                </a:solidFill>
                <a:latin typeface="Calibri"/>
              </a:rPr>
              <a:t>Flood forecasting needs hourly resolution. Hourly discharge records do not exist in most of the world.</a:t>
            </a:r>
          </a:p>
          <a:p>
            <a:pPr algn="l">
              <a:lnSpc>
                <a:spcPct val="145000"/>
              </a:lnSpc>
            </a:pPr>
            <a:r>
              <a:rPr sz="1800" b="0">
                <a:solidFill>
                  <a:srgbClr val="1A1A1A"/>
                </a:solidFill>
                <a:latin typeface="Calibri"/>
              </a:rPr>
              <a:t/>
            </a:r>
          </a:p>
          <a:p>
            <a:pPr algn="l">
              <a:lnSpc>
                <a:spcPct val="145000"/>
              </a:lnSpc>
            </a:pPr>
            <a:r>
              <a:rPr sz="1800" b="1">
                <a:solidFill>
                  <a:srgbClr val="EB6834"/>
                </a:solidFill>
                <a:latin typeface="Calibri"/>
              </a:rPr>
              <a:t>CAMELSH alone contributes 5,767 US gauges. All 282 African basins tested here have zero hourly discharge.</a:t>
            </a:r>
          </a:p>
          <a:p>
            <a:pPr algn="l">
              <a:lnSpc>
                <a:spcPct val="145000"/>
              </a:lnSpc>
            </a:pPr>
            <a:r>
              <a:rPr sz="1800" b="0">
                <a:solidFill>
                  <a:srgbClr val="1A1A1A"/>
                </a:solidFill>
                <a:latin typeface="Calibri"/>
              </a:rPr>
              <a:t/>
            </a:r>
          </a:p>
          <a:p>
            <a:pPr algn="l">
              <a:lnSpc>
                <a:spcPct val="145000"/>
              </a:lnSpc>
            </a:pPr>
            <a:r>
              <a:rPr sz="1800" b="0">
                <a:solidFill>
                  <a:srgbClr val="1A1A1A"/>
                </a:solidFill>
                <a:latin typeface="Calibri"/>
              </a:rPr>
              <a:t>If an hourly model needs hourly data to adapt, it can never reach the regions that need it most.</a:t>
            </a:r>
          </a:p>
          <a:p>
            <a:pPr algn="l">
              <a:lnSpc>
                <a:spcPct val="145000"/>
              </a:lnSpc>
            </a:pPr>
            <a:r>
              <a:rPr sz="1800" b="0">
                <a:solidFill>
                  <a:srgbClr val="1A1A1A"/>
                </a:solidFill>
                <a:latin typeface="Calibri"/>
              </a:rPr>
              <a:t/>
            </a:r>
          </a:p>
          <a:p>
            <a:pPr algn="l">
              <a:lnSpc>
                <a:spcPct val="145000"/>
              </a:lnSpc>
            </a:pPr>
            <a:r>
              <a:rPr sz="1800" b="0">
                <a:solidFill>
                  <a:srgbClr val="1A1A1A"/>
                </a:solidFill>
                <a:latin typeface="Calibri"/>
              </a:rPr>
              <a:t>Phase I asks whether daily observations, which most of the world does have, are enough to adapt one.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15000"/>
              </a:lnSpc>
            </a:pPr>
            <a:r>
              <a:rPr sz="2700" b="1">
                <a:solidFill>
                  <a:srgbClr val="1A1A1A"/>
                </a:solidFill>
                <a:latin typeface="Calibri"/>
              </a:rPr>
              <a:t>The result: the harder the test, the more daily data helps</a:t>
            </a:r>
          </a:p>
        </p:txBody>
      </p:sp>
      <p:sp>
        <p:nvSpPr>
          <p:cNvPr id="3" name="Rectangle 2"/>
          <p:cNvSpPr/>
          <p:nvPr/>
        </p:nvSpPr>
        <p:spPr>
          <a:xfrm>
            <a:off x="640080" y="1207008"/>
            <a:ext cx="10908792" cy="9525"/>
          </a:xfrm>
          <a:prstGeom prst="rect">
            <a:avLst/>
          </a:prstGeom>
          <a:solidFill>
            <a:srgbClr val="D8D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13_headline.png"/>
          <p:cNvPicPr>
            <a:picLocks noChangeAspect="1"/>
          </p:cNvPicPr>
          <p:nvPr/>
        </p:nvPicPr>
        <p:blipFill>
          <a:blip r:embed="rId2"/>
          <a:stretch>
            <a:fillRect/>
          </a:stretch>
        </p:blipFill>
        <p:spPr>
          <a:xfrm>
            <a:off x="3105310" y="1627632"/>
            <a:ext cx="5981075" cy="3200400"/>
          </a:xfrm>
          <a:prstGeom prst="rect">
            <a:avLst/>
          </a:prstGeom>
        </p:spPr>
      </p:pic>
      <p:sp>
        <p:nvSpPr>
          <p:cNvPr id="5" name="TextBox 4"/>
          <p:cNvSpPr txBox="1"/>
          <p:nvPr/>
        </p:nvSpPr>
        <p:spPr>
          <a:xfrm>
            <a:off x="640080" y="5029200"/>
            <a:ext cx="10881360" cy="1148080"/>
          </a:xfrm>
          <a:prstGeom prst="rect">
            <a:avLst/>
          </a:prstGeom>
          <a:noFill/>
        </p:spPr>
        <p:txBody>
          <a:bodyPr wrap="square">
            <a:spAutoFit/>
          </a:bodyPr>
          <a:lstStyle/>
          <a:p>
            <a:pPr algn="l">
              <a:lnSpc>
                <a:spcPct val="130000"/>
              </a:lnSpc>
            </a:pPr>
            <a:r>
              <a:rPr sz="1600" b="1">
                <a:solidFill>
                  <a:srgbClr val="EB6834"/>
                </a:solidFill>
                <a:latin typeface="Calibri"/>
              </a:rPr>
              <a:t>The gain grows from +0.062 to +0.133 to +0.409 as the test gets harder, while the two temperate endpoints land 0.004 apart.</a:t>
            </a:r>
          </a:p>
          <a:p>
            <a:pPr algn="l">
              <a:lnSpc>
                <a:spcPct val="130000"/>
              </a:lnSpc>
            </a:pPr>
            <a:r>
              <a:rPr sz="1600" b="0">
                <a:solidFill>
                  <a:srgbClr val="1A1A1A"/>
                </a:solidFill>
                <a:latin typeface="Calibri"/>
              </a:rPr>
              <a:t>The zero-shot baseline's apparent skill was partly spatial proximity. The gain from daily data was not.</a:t>
            </a:r>
          </a:p>
        </p:txBody>
      </p:sp>
      <p:sp>
        <p:nvSpPr>
          <p:cNvPr id="6" name="TextBox 5"/>
          <p:cNvSpPr txBox="1"/>
          <p:nvPr/>
        </p:nvSpPr>
        <p:spPr>
          <a:xfrm>
            <a:off x="640080" y="6232144"/>
            <a:ext cx="10881360" cy="412749"/>
          </a:xfrm>
          <a:prstGeom prst="rect">
            <a:avLst/>
          </a:prstGeom>
          <a:noFill/>
        </p:spPr>
        <p:txBody>
          <a:bodyPr wrap="square">
            <a:spAutoFit/>
          </a:bodyPr>
          <a:lstStyle/>
          <a:p>
            <a:pPr algn="l">
              <a:lnSpc>
                <a:spcPct val="115000"/>
              </a:lnSpc>
            </a:pPr>
            <a:r>
              <a:rPr sz="1100" b="0">
                <a:solidFill>
                  <a:srgbClr val="5A5A58"/>
                </a:solidFill>
                <a:latin typeface="Calibri"/>
              </a:rPr>
              <a:t>Fine-tuning uses 24-hour aggregates only. The target stations' hourly observations are hidden from the loss and from epoch selection, and used solely for scoring.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15000"/>
              </a:lnSpc>
            </a:pPr>
            <a:r>
              <a:rPr sz="2700" b="1">
                <a:solidFill>
                  <a:srgbClr val="1A1A1A"/>
                </a:solidFill>
                <a:latin typeface="Calibri"/>
              </a:rPr>
              <a:t>The same result, seen rather than tabulated</a:t>
            </a:r>
          </a:p>
        </p:txBody>
      </p:sp>
      <p:sp>
        <p:nvSpPr>
          <p:cNvPr id="3" name="Rectangle 2"/>
          <p:cNvSpPr/>
          <p:nvPr/>
        </p:nvSpPr>
        <p:spPr>
          <a:xfrm>
            <a:off x="640080" y="1207008"/>
            <a:ext cx="10908792" cy="9525"/>
          </a:xfrm>
          <a:prstGeom prst="rect">
            <a:avLst/>
          </a:prstGeom>
          <a:solidFill>
            <a:srgbClr val="D8D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15_slide_map.png"/>
          <p:cNvPicPr>
            <a:picLocks noChangeAspect="1"/>
          </p:cNvPicPr>
          <p:nvPr/>
        </p:nvPicPr>
        <p:blipFill>
          <a:blip r:embed="rId2"/>
          <a:stretch>
            <a:fillRect/>
          </a:stretch>
        </p:blipFill>
        <p:spPr>
          <a:xfrm>
            <a:off x="1825426" y="1627632"/>
            <a:ext cx="8540842" cy="2286000"/>
          </a:xfrm>
          <a:prstGeom prst="rect">
            <a:avLst/>
          </a:prstGeom>
        </p:spPr>
      </p:pic>
      <p:sp>
        <p:nvSpPr>
          <p:cNvPr id="5" name="TextBox 4"/>
          <p:cNvSpPr txBox="1"/>
          <p:nvPr/>
        </p:nvSpPr>
        <p:spPr>
          <a:xfrm>
            <a:off x="640080" y="4114800"/>
            <a:ext cx="10881360" cy="883920"/>
          </a:xfrm>
          <a:prstGeom prst="rect">
            <a:avLst/>
          </a:prstGeom>
          <a:noFill/>
        </p:spPr>
        <p:txBody>
          <a:bodyPr wrap="square">
            <a:spAutoFit/>
          </a:bodyPr>
          <a:lstStyle/>
          <a:p>
            <a:pPr algn="l">
              <a:lnSpc>
                <a:spcPct val="130000"/>
              </a:lnSpc>
            </a:pPr>
            <a:r>
              <a:rPr sz="1600" b="1">
                <a:solidFill>
                  <a:srgbClr val="EB6834"/>
                </a:solidFill>
                <a:latin typeface="Calibri"/>
              </a:rPr>
              <a:t>Panel (b) is greener almost everywhere, across four continents and six national networks.</a:t>
            </a:r>
          </a:p>
          <a:p>
            <a:pPr algn="l">
              <a:lnSpc>
                <a:spcPct val="130000"/>
              </a:lnSpc>
            </a:pPr>
            <a:r>
              <a:rPr sz="1600" b="0">
                <a:solidFill>
                  <a:srgbClr val="1A1A1A"/>
                </a:solidFill>
                <a:latin typeface="Calibri"/>
              </a:rPr>
              <a:t>A median cannot show that the result belongs to no single region. The African basins are the larger markers.</a:t>
            </a:r>
          </a:p>
        </p:txBody>
      </p:sp>
      <p:sp>
        <p:nvSpPr>
          <p:cNvPr id="6" name="TextBox 5"/>
          <p:cNvSpPr txBox="1"/>
          <p:nvPr/>
        </p:nvSpPr>
        <p:spPr>
          <a:xfrm>
            <a:off x="640080" y="5053584"/>
            <a:ext cx="10881360" cy="252095"/>
          </a:xfrm>
          <a:prstGeom prst="rect">
            <a:avLst/>
          </a:prstGeom>
          <a:noFill/>
        </p:spPr>
        <p:txBody>
          <a:bodyPr wrap="square">
            <a:spAutoFit/>
          </a:bodyPr>
          <a:lstStyle/>
          <a:p>
            <a:pPr algn="l">
              <a:lnSpc>
                <a:spcPct val="115000"/>
              </a:lnSpc>
            </a:pPr>
            <a:r>
              <a:rPr sz="1100" b="0">
                <a:solidFill>
                  <a:srgbClr val="5A5A58"/>
                </a:solidFill>
                <a:latin typeface="Calibri"/>
              </a:rPr>
              <a:t>Both panels share one colour scale, so they are read against each other by construction. Coastlines and national borders at 110 m resolution.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15000"/>
              </a:lnSpc>
            </a:pPr>
            <a:r>
              <a:rPr sz="2700" b="1">
                <a:solidFill>
                  <a:srgbClr val="1A1A1A"/>
                </a:solidFill>
                <a:latin typeface="Calibri"/>
              </a:rPr>
              <a:t>Why it works, and what it cannot do</a:t>
            </a:r>
          </a:p>
        </p:txBody>
      </p:sp>
      <p:sp>
        <p:nvSpPr>
          <p:cNvPr id="3" name="Rectangle 2"/>
          <p:cNvSpPr/>
          <p:nvPr/>
        </p:nvSpPr>
        <p:spPr>
          <a:xfrm>
            <a:off x="640080" y="1207008"/>
            <a:ext cx="10908792" cy="9525"/>
          </a:xfrm>
          <a:prstGeom prst="rect">
            <a:avLst/>
          </a:prstGeom>
          <a:solidFill>
            <a:srgbClr val="D8D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11_component_deficits.png"/>
          <p:cNvPicPr>
            <a:picLocks noChangeAspect="1"/>
          </p:cNvPicPr>
          <p:nvPr/>
        </p:nvPicPr>
        <p:blipFill>
          <a:blip r:embed="rId2"/>
          <a:stretch>
            <a:fillRect/>
          </a:stretch>
        </p:blipFill>
        <p:spPr>
          <a:xfrm>
            <a:off x="1977584" y="1627632"/>
            <a:ext cx="8236527" cy="2743200"/>
          </a:xfrm>
          <a:prstGeom prst="rect">
            <a:avLst/>
          </a:prstGeom>
        </p:spPr>
      </p:pic>
      <p:sp>
        <p:nvSpPr>
          <p:cNvPr id="5" name="TextBox 4"/>
          <p:cNvSpPr txBox="1"/>
          <p:nvPr/>
        </p:nvSpPr>
        <p:spPr>
          <a:xfrm>
            <a:off x="640080" y="4572000"/>
            <a:ext cx="10881360" cy="1148080"/>
          </a:xfrm>
          <a:prstGeom prst="rect">
            <a:avLst/>
          </a:prstGeom>
          <a:noFill/>
        </p:spPr>
        <p:txBody>
          <a:bodyPr wrap="square">
            <a:spAutoFit/>
          </a:bodyPr>
          <a:lstStyle/>
          <a:p>
            <a:pPr algn="l">
              <a:lnSpc>
                <a:spcPct val="130000"/>
              </a:lnSpc>
            </a:pPr>
            <a:r>
              <a:rPr sz="1600" b="0">
                <a:solidFill>
                  <a:srgbClr val="1A1A1A"/>
                </a:solidFill>
                <a:latin typeface="Calibri"/>
              </a:rPr>
              <a:t>A 24-hour total carries magnitude information and no sub-daily timing information, so it should repair amplitude and volume and leave timing alone.</a:t>
            </a:r>
          </a:p>
          <a:p>
            <a:pPr algn="l">
              <a:lnSpc>
                <a:spcPct val="130000"/>
              </a:lnSpc>
            </a:pPr>
            <a:r>
              <a:rPr sz="1600" b="1">
                <a:solidFill>
                  <a:srgbClr val="EB6834"/>
                </a:solidFill>
                <a:latin typeface="Calibri"/>
              </a:rPr>
              <a:t>It does. Temperate: 25% of the magnitude deficit against 7% of the timing deficit. Africa: 72% against 32%.</a:t>
            </a:r>
          </a:p>
        </p:txBody>
      </p:sp>
      <p:sp>
        <p:nvSpPr>
          <p:cNvPr id="6" name="TextBox 5"/>
          <p:cNvSpPr txBox="1"/>
          <p:nvPr/>
        </p:nvSpPr>
        <p:spPr>
          <a:xfrm>
            <a:off x="640080" y="5774944"/>
            <a:ext cx="10881360" cy="252095"/>
          </a:xfrm>
          <a:prstGeom prst="rect">
            <a:avLst/>
          </a:prstGeom>
          <a:noFill/>
        </p:spPr>
        <p:txBody>
          <a:bodyPr wrap="square">
            <a:spAutoFit/>
          </a:bodyPr>
          <a:lstStyle/>
          <a:p>
            <a:pPr algn="l">
              <a:lnSpc>
                <a:spcPct val="115000"/>
              </a:lnSpc>
            </a:pPr>
            <a:r>
              <a:rPr sz="1100" b="0">
                <a:solidFill>
                  <a:srgbClr val="5A5A58"/>
                </a:solidFill>
                <a:latin typeface="Calibri"/>
              </a:rPr>
              <a:t>Deficit is 1 - r for the correlation and |log2 x| for the two ratios, so only the fraction removed is comparable across components.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15000"/>
              </a:lnSpc>
            </a:pPr>
            <a:r>
              <a:rPr sz="2700" b="1">
                <a:solidFill>
                  <a:srgbClr val="1A1A1A"/>
                </a:solidFill>
                <a:latin typeface="Calibri"/>
              </a:rPr>
              <a:t>What the repair looks like in a single catchment</a:t>
            </a:r>
          </a:p>
        </p:txBody>
      </p:sp>
      <p:sp>
        <p:nvSpPr>
          <p:cNvPr id="3" name="Rectangle 2"/>
          <p:cNvSpPr/>
          <p:nvPr/>
        </p:nvSpPr>
        <p:spPr>
          <a:xfrm>
            <a:off x="640080" y="1207008"/>
            <a:ext cx="10908792" cy="9525"/>
          </a:xfrm>
          <a:prstGeom prst="rect">
            <a:avLst/>
          </a:prstGeom>
          <a:solidFill>
            <a:srgbClr val="D8D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14_slide_hydrograph.png"/>
          <p:cNvPicPr>
            <a:picLocks noChangeAspect="1"/>
          </p:cNvPicPr>
          <p:nvPr/>
        </p:nvPicPr>
        <p:blipFill>
          <a:blip r:embed="rId2"/>
          <a:stretch>
            <a:fillRect/>
          </a:stretch>
        </p:blipFill>
        <p:spPr>
          <a:xfrm>
            <a:off x="3147651" y="1627632"/>
            <a:ext cx="5896393" cy="2651760"/>
          </a:xfrm>
          <a:prstGeom prst="rect">
            <a:avLst/>
          </a:prstGeom>
        </p:spPr>
      </p:pic>
      <p:sp>
        <p:nvSpPr>
          <p:cNvPr id="5" name="TextBox 4"/>
          <p:cNvSpPr txBox="1"/>
          <p:nvPr/>
        </p:nvSpPr>
        <p:spPr>
          <a:xfrm>
            <a:off x="640080" y="4480559"/>
            <a:ext cx="10881360" cy="883920"/>
          </a:xfrm>
          <a:prstGeom prst="rect">
            <a:avLst/>
          </a:prstGeom>
          <a:noFill/>
        </p:spPr>
        <p:txBody>
          <a:bodyPr wrap="square">
            <a:spAutoFit/>
          </a:bodyPr>
          <a:lstStyle/>
          <a:p>
            <a:pPr algn="l">
              <a:lnSpc>
                <a:spcPct val="130000"/>
              </a:lnSpc>
            </a:pPr>
            <a:r>
              <a:rPr sz="1600" b="1">
                <a:solidFill>
                  <a:srgbClr val="EB6834"/>
                </a:solidFill>
                <a:latin typeface="Calibri"/>
              </a:rPr>
              <a:t>The zero-shot model in blue already has the shape and sits far below the peaks. Fine-tuning on daily totals lifts it toward the observation and leaves the shape alone.</a:t>
            </a:r>
          </a:p>
          <a:p>
            <a:pPr algn="l">
              <a:lnSpc>
                <a:spcPct val="130000"/>
              </a:lnSpc>
            </a:pPr>
            <a:r>
              <a:rPr sz="1600" b="0">
                <a:solidFill>
                  <a:srgbClr val="1A1A1A"/>
                </a:solidFill>
                <a:latin typeface="Calibri"/>
              </a:rPr>
              <a:t>This is the previous slide's mechanism in a form that needs no metric.</a:t>
            </a:r>
          </a:p>
        </p:txBody>
      </p:sp>
      <p:sp>
        <p:nvSpPr>
          <p:cNvPr id="6" name="TextBox 5"/>
          <p:cNvSpPr txBox="1"/>
          <p:nvPr/>
        </p:nvSpPr>
        <p:spPr>
          <a:xfrm>
            <a:off x="640080" y="5419343"/>
            <a:ext cx="10881360" cy="252095"/>
          </a:xfrm>
          <a:prstGeom prst="rect">
            <a:avLst/>
          </a:prstGeom>
          <a:noFill/>
        </p:spPr>
        <p:txBody>
          <a:bodyPr wrap="square">
            <a:spAutoFit/>
          </a:bodyPr>
          <a:lstStyle/>
          <a:p>
            <a:pPr algn="l">
              <a:lnSpc>
                <a:spcPct val="115000"/>
              </a:lnSpc>
            </a:pPr>
            <a:r>
              <a:rPr sz="1100" b="0">
                <a:solidFill>
                  <a:srgbClr val="5A5A58"/>
                </a:solidFill>
                <a:latin typeface="Calibri"/>
              </a:rPr>
              <a:t>The median and upper-quartile African catchments by fine-tuned KGE, chosen by rank rather than by eye. Neither appears anywhere in pretraining.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15000"/>
              </a:lnSpc>
            </a:pPr>
            <a:r>
              <a:rPr sz="2700" b="1">
                <a:solidFill>
                  <a:srgbClr val="1A1A1A"/>
                </a:solidFill>
                <a:latin typeface="Calibri"/>
              </a:rPr>
              <a:t>The blocked split, agency by agency</a:t>
            </a:r>
          </a:p>
        </p:txBody>
      </p:sp>
      <p:sp>
        <p:nvSpPr>
          <p:cNvPr id="3" name="Rectangle 2"/>
          <p:cNvSpPr/>
          <p:nvPr/>
        </p:nvSpPr>
        <p:spPr>
          <a:xfrm>
            <a:off x="640080" y="1207008"/>
            <a:ext cx="10908792" cy="9525"/>
          </a:xfrm>
          <a:prstGeom prst="rect">
            <a:avLst/>
          </a:prstGeom>
          <a:solidFill>
            <a:srgbClr val="D8D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04_agency_recovery.png"/>
          <p:cNvPicPr>
            <a:picLocks noChangeAspect="1"/>
          </p:cNvPicPr>
          <p:nvPr/>
        </p:nvPicPr>
        <p:blipFill>
          <a:blip r:embed="rId2"/>
          <a:stretch>
            <a:fillRect/>
          </a:stretch>
        </p:blipFill>
        <p:spPr>
          <a:xfrm>
            <a:off x="2527667" y="1627632"/>
            <a:ext cx="7136360" cy="2926080"/>
          </a:xfrm>
          <a:prstGeom prst="rect">
            <a:avLst/>
          </a:prstGeom>
        </p:spPr>
      </p:pic>
      <p:sp>
        <p:nvSpPr>
          <p:cNvPr id="5" name="TextBox 4"/>
          <p:cNvSpPr txBox="1"/>
          <p:nvPr/>
        </p:nvSpPr>
        <p:spPr>
          <a:xfrm>
            <a:off x="640080" y="4754880"/>
            <a:ext cx="10881360" cy="883920"/>
          </a:xfrm>
          <a:prstGeom prst="rect">
            <a:avLst/>
          </a:prstGeom>
          <a:noFill/>
        </p:spPr>
        <p:txBody>
          <a:bodyPr wrap="square">
            <a:spAutoFit/>
          </a:bodyPr>
          <a:lstStyle/>
          <a:p>
            <a:pPr algn="l">
              <a:lnSpc>
                <a:spcPct val="130000"/>
              </a:lnSpc>
            </a:pPr>
            <a:r>
              <a:rPr sz="1600" b="1">
                <a:solidFill>
                  <a:srgbClr val="EB6834"/>
                </a:solidFill>
                <a:latin typeface="Calibri"/>
              </a:rPr>
              <a:t>Five of six networks recover 85 to 102 percent of what spatial blocking costs. Iceland, with 73 gauges, recovers 38 percent.</a:t>
            </a:r>
          </a:p>
          <a:p>
            <a:pPr algn="l">
              <a:lnSpc>
                <a:spcPct val="130000"/>
              </a:lnSpc>
            </a:pPr>
            <a:r>
              <a:rPr sz="1600" b="0">
                <a:solidFill>
                  <a:srgbClr val="1A1A1A"/>
                </a:solidFill>
                <a:latin typeface="Calibri"/>
              </a:rPr>
              <a:t>The method is weakest exactly where the gauge network is sparsest, which is worth stating plainly.</a:t>
            </a:r>
          </a:p>
        </p:txBody>
      </p:sp>
      <p:sp>
        <p:nvSpPr>
          <p:cNvPr id="6" name="TextBox 5"/>
          <p:cNvSpPr txBox="1"/>
          <p:nvPr/>
        </p:nvSpPr>
        <p:spPr>
          <a:xfrm>
            <a:off x="640080" y="5693664"/>
            <a:ext cx="10881360" cy="252095"/>
          </a:xfrm>
          <a:prstGeom prst="rect">
            <a:avLst/>
          </a:prstGeom>
          <a:noFill/>
        </p:spPr>
        <p:txBody>
          <a:bodyPr wrap="square">
            <a:spAutoFit/>
          </a:bodyPr>
          <a:lstStyle/>
          <a:p>
            <a:pPr algn="l">
              <a:lnSpc>
                <a:spcPct val="115000"/>
              </a:lnSpc>
            </a:pPr>
            <a:r>
              <a:rPr sz="1100" b="0">
                <a:solidFill>
                  <a:srgbClr val="5A5A58"/>
                </a:solidFill>
                <a:latin typeface="Calibri"/>
              </a:rPr>
              <a:t>Blocking is 120 k-means blocks on 3-D unit vectors, packed whole into five folds, so fold sizes stay within 10 gauges of the random split's.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15000"/>
              </a:lnSpc>
            </a:pPr>
            <a:r>
              <a:rPr sz="2700" b="1">
                <a:solidFill>
                  <a:srgbClr val="1A1A1A"/>
                </a:solidFill>
                <a:latin typeface="Calibri"/>
              </a:rPr>
              <a:t>The cost to the source domain, and how much of it comes back</a:t>
            </a:r>
          </a:p>
        </p:txBody>
      </p:sp>
      <p:sp>
        <p:nvSpPr>
          <p:cNvPr id="3" name="Rectangle 2"/>
          <p:cNvSpPr/>
          <p:nvPr/>
        </p:nvSpPr>
        <p:spPr>
          <a:xfrm>
            <a:off x="640080" y="1207008"/>
            <a:ext cx="10908792" cy="9525"/>
          </a:xfrm>
          <a:prstGeom prst="rect">
            <a:avLst/>
          </a:prstGeom>
          <a:solidFill>
            <a:srgbClr val="D8D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12_replay.png"/>
          <p:cNvPicPr>
            <a:picLocks noChangeAspect="1"/>
          </p:cNvPicPr>
          <p:nvPr/>
        </p:nvPicPr>
        <p:blipFill>
          <a:blip r:embed="rId2"/>
          <a:stretch>
            <a:fillRect/>
          </a:stretch>
        </p:blipFill>
        <p:spPr>
          <a:xfrm>
            <a:off x="2617294" y="1627632"/>
            <a:ext cx="6957107" cy="2834640"/>
          </a:xfrm>
          <a:prstGeom prst="rect">
            <a:avLst/>
          </a:prstGeom>
        </p:spPr>
      </p:pic>
      <p:sp>
        <p:nvSpPr>
          <p:cNvPr id="5" name="TextBox 4"/>
          <p:cNvSpPr txBox="1"/>
          <p:nvPr/>
        </p:nvSpPr>
        <p:spPr>
          <a:xfrm>
            <a:off x="640080" y="4663440"/>
            <a:ext cx="10881360" cy="1148080"/>
          </a:xfrm>
          <a:prstGeom prst="rect">
            <a:avLst/>
          </a:prstGeom>
          <a:noFill/>
        </p:spPr>
        <p:txBody>
          <a:bodyPr wrap="square">
            <a:spAutoFit/>
          </a:bodyPr>
          <a:lstStyle/>
          <a:p>
            <a:pPr algn="l">
              <a:lnSpc>
                <a:spcPct val="130000"/>
              </a:lnSpc>
            </a:pPr>
            <a:r>
              <a:rPr sz="1600" b="0">
                <a:solidFill>
                  <a:srgbClr val="1A1A1A"/>
                </a:solidFill>
                <a:latin typeface="Calibri"/>
              </a:rPr>
              <a:t>Adapting to the daily domain degrades the hourly one: the median source gauge loses 0.054 KGE, in every fold.</a:t>
            </a:r>
          </a:p>
          <a:p>
            <a:pPr algn="l">
              <a:lnSpc>
                <a:spcPct val="130000"/>
              </a:lnSpc>
            </a:pPr>
            <a:r>
              <a:rPr sz="1600" b="1">
                <a:solidFill>
                  <a:srgbClr val="EB6834"/>
                </a:solidFill>
                <a:latin typeface="Calibri"/>
              </a:rPr>
              <a:t>Replaying source batches returns 29% of it under a random split and 54% under a blocked one, at 4.1 to 1 and 5.4 to 1.</a:t>
            </a:r>
          </a:p>
        </p:txBody>
      </p:sp>
      <p:sp>
        <p:nvSpPr>
          <p:cNvPr id="6" name="TextBox 5"/>
          <p:cNvSpPr txBox="1"/>
          <p:nvPr/>
        </p:nvSpPr>
        <p:spPr>
          <a:xfrm>
            <a:off x="640080" y="5866383"/>
            <a:ext cx="10881360" cy="252095"/>
          </a:xfrm>
          <a:prstGeom prst="rect">
            <a:avLst/>
          </a:prstGeom>
          <a:noFill/>
        </p:spPr>
        <p:txBody>
          <a:bodyPr wrap="square">
            <a:spAutoFit/>
          </a:bodyPr>
          <a:lstStyle/>
          <a:p>
            <a:pPr algn="l">
              <a:lnSpc>
                <a:spcPct val="115000"/>
              </a:lnSpc>
            </a:pPr>
            <a:r>
              <a:rPr sz="1100" b="0">
                <a:solidFill>
                  <a:srgbClr val="5A5A58"/>
                </a:solidFill>
                <a:latin typeface="Calibri"/>
              </a:rPr>
              <a:t>Replay is legitimate rather than leakage: the premise hides the target stations' hourly data and never the source's. Paired per gauge.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15000"/>
              </a:lnSpc>
            </a:pPr>
            <a:r>
              <a:rPr sz="2700" b="1">
                <a:solidFill>
                  <a:srgbClr val="1A1A1A"/>
                </a:solidFill>
                <a:latin typeface="Calibri"/>
              </a:rPr>
              <a:t>Two readings that would deflate the result, and the runs that answer them</a:t>
            </a:r>
          </a:p>
        </p:txBody>
      </p:sp>
      <p:sp>
        <p:nvSpPr>
          <p:cNvPr id="3" name="Rectangle 2"/>
          <p:cNvSpPr/>
          <p:nvPr/>
        </p:nvSpPr>
        <p:spPr>
          <a:xfrm>
            <a:off x="640080" y="1207008"/>
            <a:ext cx="10908792" cy="9525"/>
          </a:xfrm>
          <a:prstGeom prst="rect">
            <a:avLst/>
          </a:prstGeom>
          <a:solidFill>
            <a:srgbClr val="D8D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600200"/>
            <a:ext cx="10881360" cy="4754880"/>
          </a:xfrm>
          <a:prstGeom prst="rect">
            <a:avLst/>
          </a:prstGeom>
          <a:noFill/>
        </p:spPr>
        <p:txBody>
          <a:bodyPr wrap="square">
            <a:spAutoFit/>
          </a:bodyPr>
          <a:lstStyle/>
          <a:p>
            <a:pPr algn="l">
              <a:lnSpc>
                <a:spcPct val="145000"/>
              </a:lnSpc>
            </a:pPr>
            <a:r>
              <a:rPr sz="1500" b="0">
                <a:solidFill>
                  <a:srgbClr val="1A1A1A"/>
                </a:solidFill>
                <a:latin typeface="Calibri"/>
              </a:rPr>
              <a:t>The gain repairs amplitude and volume. A per-gauge rescaling repairs those with arithmetic, so does it?</a:t>
            </a:r>
          </a:p>
          <a:p>
            <a:pPr algn="l">
              <a:lnSpc>
                <a:spcPct val="145000"/>
              </a:lnSpc>
            </a:pPr>
            <a:r>
              <a:rPr sz="1500" b="1">
                <a:solidFill>
                  <a:srgbClr val="EB6834"/>
                </a:solidFill>
                <a:latin typeface="Calibri"/>
              </a:rPr>
              <a:t>  No. Fitted on the training-period daily means and applied to the zero-shot output, a volume correction gives -0.0015 against fine-tuning's +0.0573, and fine-tuning leads on 70% of gauges.</a:t>
            </a:r>
          </a:p>
          <a:p>
            <a:pPr algn="l">
              <a:lnSpc>
                <a:spcPct val="145000"/>
              </a:lnSpc>
            </a:pPr>
            <a:r>
              <a:rPr sz="1500" b="0">
                <a:solidFill>
                  <a:srgbClr val="1A1A1A"/>
                </a:solidFill>
                <a:latin typeface="Calibri"/>
              </a:rPr>
              <a:t>  Volume is already near-right at M0. The gain is in amplitude, and the standard deviation of daily means is not that of the hourly series, so no daily-derived factor can express the correction the model performs.</a:t>
            </a:r>
          </a:p>
          <a:p>
            <a:pPr algn="l">
              <a:lnSpc>
                <a:spcPct val="145000"/>
              </a:lnSpc>
            </a:pPr>
            <a:r>
              <a:rPr sz="1500" b="0">
                <a:solidFill>
                  <a:srgbClr val="1A1A1A"/>
                </a:solidFill>
                <a:latin typeface="Calibri"/>
              </a:rPr>
              <a:t/>
            </a:r>
          </a:p>
          <a:p>
            <a:pPr algn="l">
              <a:lnSpc>
                <a:spcPct val="145000"/>
              </a:lnSpc>
            </a:pPr>
            <a:r>
              <a:rPr sz="1500" b="0">
                <a:solidFill>
                  <a:srgbClr val="1A1A1A"/>
                </a:solidFill>
                <a:latin typeface="Calibri"/>
              </a:rPr>
              <a:t>The premise hides hourly data. So hourly supervision would be better?</a:t>
            </a:r>
          </a:p>
          <a:p>
            <a:pPr algn="l">
              <a:lnSpc>
                <a:spcPct val="145000"/>
              </a:lnSpc>
            </a:pPr>
            <a:r>
              <a:rPr sz="1500" b="1">
                <a:solidFill>
                  <a:srgbClr val="EB6834"/>
                </a:solidFill>
                <a:latin typeface="Calibri"/>
              </a:rPr>
              <a:t>  No. Daily-only gains +0.0576; hourly supervision +0.0335 to +0.0327.</a:t>
            </a:r>
          </a:p>
          <a:p>
            <a:pPr algn="l">
              <a:lnSpc>
                <a:spcPct val="145000"/>
              </a:lnSpc>
            </a:pPr>
            <a:r>
              <a:rPr sz="1500" b="0">
                <a:solidFill>
                  <a:srgbClr val="1A1A1A"/>
                </a:solidFill>
                <a:latin typeface="Calibri"/>
              </a:rPr>
              <a:t>  All three arms were swept over the transfer learning rate, which had never been searched. Each peaks at 2e-4, and there the daily objective still leads by +0.0121.</a:t>
            </a:r>
          </a:p>
          <a:p>
            <a:pPr algn="l">
              <a:lnSpc>
                <a:spcPct val="145000"/>
              </a:lnSpc>
            </a:pPr>
            <a:r>
              <a:rPr sz="1500" b="0">
                <a:solidFill>
                  <a:srgbClr val="1A1A1A"/>
                </a:solidFill>
                <a:latin typeface="Calibri"/>
              </a:rPr>
              <a:t>  The difference is entirely amplitude: daily supervision moves alpha 0.821 to 0.856, hourly supervision to 0.794.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15000"/>
              </a:lnSpc>
            </a:pPr>
            <a:r>
              <a:rPr sz="2700" b="1">
                <a:solidFill>
                  <a:srgbClr val="1A1A1A"/>
                </a:solidFill>
                <a:latin typeface="Calibri"/>
              </a:rPr>
              <a:t>Where this stands</a:t>
            </a:r>
          </a:p>
        </p:txBody>
      </p:sp>
      <p:sp>
        <p:nvSpPr>
          <p:cNvPr id="3" name="Rectangle 2"/>
          <p:cNvSpPr/>
          <p:nvPr/>
        </p:nvSpPr>
        <p:spPr>
          <a:xfrm>
            <a:off x="640080" y="1207008"/>
            <a:ext cx="10908792" cy="9525"/>
          </a:xfrm>
          <a:prstGeom prst="rect">
            <a:avLst/>
          </a:prstGeom>
          <a:solidFill>
            <a:srgbClr val="D8D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600200"/>
            <a:ext cx="10881360" cy="4754880"/>
          </a:xfrm>
          <a:prstGeom prst="rect">
            <a:avLst/>
          </a:prstGeom>
          <a:noFill/>
        </p:spPr>
        <p:txBody>
          <a:bodyPr wrap="square">
            <a:spAutoFit/>
          </a:bodyPr>
          <a:lstStyle/>
          <a:p>
            <a:pPr algn="l">
              <a:lnSpc>
                <a:spcPct val="145000"/>
              </a:lnSpc>
            </a:pPr>
            <a:r>
              <a:rPr sz="1500" b="0">
                <a:solidFill>
                  <a:srgbClr val="1A1A1A"/>
                </a:solidFill>
                <a:latin typeface="Calibri"/>
              </a:rPr>
              <a:t>Settled</a:t>
            </a:r>
          </a:p>
          <a:p>
            <a:pPr algn="l">
              <a:lnSpc>
                <a:spcPct val="145000"/>
              </a:lnSpc>
            </a:pPr>
            <a:r>
              <a:rPr sz="1500" b="0">
                <a:solidFill>
                  <a:srgbClr val="1A1A1A"/>
                </a:solidFill>
                <a:latin typeface="Calibri"/>
              </a:rPr>
              <a:t>  Five-fold cross-validation on 8,843 gauges, six agencies</a:t>
            </a:r>
          </a:p>
          <a:p>
            <a:pPr algn="l">
              <a:lnSpc>
                <a:spcPct val="145000"/>
              </a:lnSpc>
            </a:pPr>
            <a:r>
              <a:rPr sz="1500" b="0">
                <a:solidFill>
                  <a:srgbClr val="1A1A1A"/>
                </a:solidFill>
                <a:latin typeface="Calibri"/>
              </a:rPr>
              <a:t>  Spatially blocked split, 10.4 km to 94.9 km nearest trainable neighbour</a:t>
            </a:r>
          </a:p>
          <a:p>
            <a:pPr algn="l">
              <a:lnSpc>
                <a:spcPct val="145000"/>
              </a:lnSpc>
            </a:pPr>
            <a:r>
              <a:rPr sz="1500" b="0">
                <a:solidFill>
                  <a:srgbClr val="1A1A1A"/>
                </a:solidFill>
                <a:latin typeface="Calibri"/>
              </a:rPr>
              <a:t>  External test on 282 African basins, none seen in training</a:t>
            </a:r>
          </a:p>
          <a:p>
            <a:pPr algn="l">
              <a:lnSpc>
                <a:spcPct val="145000"/>
              </a:lnSpc>
            </a:pPr>
            <a:r>
              <a:rPr sz="1500" b="0">
                <a:solidFill>
                  <a:srgbClr val="1A1A1A"/>
                </a:solidFill>
                <a:latin typeface="Calibri"/>
              </a:rPr>
              <a:t>  Single-variable ablation, all five folds:</a:t>
            </a:r>
          </a:p>
          <a:p>
            <a:pPr algn="l">
              <a:lnSpc>
                <a:spcPct val="145000"/>
              </a:lnSpc>
            </a:pPr>
            <a:r>
              <a:rPr sz="1500" b="0">
                <a:solidFill>
                  <a:srgbClr val="1A1A1A"/>
                </a:solidFill>
                <a:latin typeface="Calibri"/>
              </a:rPr>
              <a:t>  forget gate 0 -&gt; 3: +0.0176 (sd 0.0086, 5 folds)</a:t>
            </a:r>
          </a:p>
          <a:p>
            <a:pPr algn="l">
              <a:lnSpc>
                <a:spcPct val="145000"/>
              </a:lnSpc>
            </a:pPr>
            <a:r>
              <a:rPr sz="1500" b="0">
                <a:solidFill>
                  <a:srgbClr val="1A1A1A"/>
                </a:solidFill>
                <a:latin typeface="Calibri"/>
              </a:rPr>
              <a:t>  hourly look-back 72 -&gt; 336: +0.0581 (sd 0.0313, 5 folds)</a:t>
            </a:r>
          </a:p>
          <a:p>
            <a:pPr algn="l">
              <a:lnSpc>
                <a:spcPct val="145000"/>
              </a:lnSpc>
            </a:pPr>
            <a:r>
              <a:rPr sz="1500" b="0">
                <a:solidFill>
                  <a:srgbClr val="1A1A1A"/>
                </a:solidFill>
                <a:latin typeface="Calibri"/>
              </a:rPr>
              <a:t>  Rescaling control and hourly-supervision reference arms, five folds each</a:t>
            </a:r>
          </a:p>
          <a:p>
            <a:pPr algn="l">
              <a:lnSpc>
                <a:spcPct val="145000"/>
              </a:lnSpc>
            </a:pPr>
            <a:r>
              <a:rPr sz="1500" b="0">
                <a:solidFill>
                  <a:srgbClr val="1A1A1A"/>
                </a:solidFill>
                <a:latin typeface="Calibri"/>
              </a:rPr>
              <a:t/>
            </a:r>
          </a:p>
          <a:p>
            <a:pPr algn="l">
              <a:lnSpc>
                <a:spcPct val="145000"/>
              </a:lnSpc>
            </a:pPr>
            <a:r>
              <a:rPr sz="1500" b="0">
                <a:solidFill>
                  <a:srgbClr val="1A1A1A"/>
                </a:solidFill>
                <a:latin typeface="Calibri"/>
              </a:rPr>
              <a:t>Scope, stated rather than defended</a:t>
            </a:r>
          </a:p>
          <a:p>
            <a:pPr algn="l">
              <a:lnSpc>
                <a:spcPct val="145000"/>
              </a:lnSpc>
            </a:pPr>
            <a:r>
              <a:rPr sz="1500" b="0">
                <a:solidFill>
                  <a:srgbClr val="1A1A1A"/>
                </a:solidFill>
                <a:latin typeface="Calibri"/>
              </a:rPr>
              <a:t>  Catchments to 10,000 km2, median 363. Large basins untested, and the forcing reaches the model as catchment-mean scalars, so routing is not learnable from it.</a:t>
            </a:r>
          </a:p>
          <a:p>
            <a:pPr algn="l">
              <a:lnSpc>
                <a:spcPct val="145000"/>
              </a:lnSpc>
            </a:pPr>
            <a:r>
              <a:rPr sz="1500" b="0">
                <a:solidFill>
                  <a:srgbClr val="1A1A1A"/>
                </a:solidFill>
                <a:latin typeface="Calibri"/>
              </a:rPr>
              <a:t>  Six of seven available networks; the Czech 437 gauges sit inside the retained attribute range on every compared property.</a:t>
            </a:r>
          </a:p>
          <a:p>
            <a:pPr algn="l">
              <a:lnSpc>
                <a:spcPct val="145000"/>
              </a:lnSpc>
            </a:pPr>
            <a:r>
              <a:rPr sz="1500" b="0">
                <a:solidFill>
                  <a:srgbClr val="1A1A1A"/>
                </a:solidFill>
                <a:latin typeface="Calibri"/>
              </a:rPr>
              <a:t/>
            </a:r>
          </a:p>
          <a:p>
            <a:pPr algn="l">
              <a:lnSpc>
                <a:spcPct val="145000"/>
              </a:lnSpc>
            </a:pPr>
            <a:r>
              <a:rPr sz="1500" b="1">
                <a:solidFill>
                  <a:srgbClr val="EB6834"/>
                </a:solidFill>
                <a:latin typeface="Calibri"/>
              </a:rPr>
              <a:t>Publication: the two controls above answer the objections that would have forced a smaller claim. The result is a methodological one now, not only an application.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