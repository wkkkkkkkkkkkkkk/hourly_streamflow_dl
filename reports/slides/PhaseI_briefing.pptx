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in one sentence: an hourly model can be adapted to a region using only daily observations, and it improves at the hourly scale. The premise is enforced in code, not in wording: the target stations' hourly targets are hidden from the loss and from epoch selection, and scoring uses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this is a coverage problem. Do not get drawn into model architecture here; the model is sMTS-LSTM from Gauch et al. 2021 and the contribution is the transfer protocol.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Spend the most time here.</a:t>
            </a:r>
          </a:p>
          <a:p/>
          <a:p>
            <a:r>
              <a:t>Random split: 0.527 -&gt; 0.626, 68% of 8,843 gauges improve.</a:t>
            </a:r>
          </a:p>
          <a:p>
            <a:r>
              <a:t>Blocked split: 0.426 -&gt; 0.622, 76% improve. The blocked split is 120 k-means blocks on the sphere packed into 5 folds, which moves the median distance to the nearest trainable gauge from 10.4 km to 94.9 km.</a:t>
            </a:r>
          </a:p>
          <a:p>
            <a:r>
              <a:t>Africa: 0.114 -&gt; 0.576, 88% of 282 basins improve. ERA5-Land is at -0.362, and it has no river routing, so it is a reference rather than a fair hydrological competitor.</a:t>
            </a:r>
          </a:p>
          <a:p/>
          <a:p>
            <a:r>
              <a:t>If asked why the gain is larger under blocking: there is more deficit to remove, because the zero-shot model no longer has a near neighbour to lean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both the mechanism and the limitation, and saying so is the point. Daily supervision recalibrates magnitude. It does not teach sub-daily timing, and no daily signal could.</a:t>
            </a:r>
          </a:p>
          <a:p/>
          <a:p>
            <a:r>
              <a:t>Expect the question: is this just a bias correction? Current answer: if it were only a rescaling, hourly supervision should do everything daily does and add timing, and it does not. It loses by 0.021 and it loses on alpha. The direct test is the rescaling control, still running.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Fold-to-fold spread also rises sharply under blocking, from 0.0035 to 0.0411, a factor of 11.8, because each blocked fold holds out different continents and climates rather than a different sample of the same regions. Report the blocked numbers as the honest ones; the random split flatters both the level and the precision.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transfer-learning papers do not report what the source domain loses. This slide is about method rigour as much as about replay.</a:t>
            </a:r>
          </a:p>
          <a:p/>
          <a:p>
            <a:r>
              <a:t>Note the asymmetry that matters: blocking more than doubles the damage, from 0.051 to 0.120, and replay then returns a larger share of it. So replay is not an artefact of the easy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held back from the deck: daily-only supervision currently BEATS hourly supervision on the target domain, +0.058 against +0.033, and the difference is entirely in alpha. Daily supervision improves the under-dispersion, hourly supervision worsens it. The plausible mechanism is that the daily objective is a constrained one and the constraint regularises.</a:t>
            </a:r>
          </a:p>
          <a:p/>
          <a:p>
            <a:r>
              <a:t>It is not on a slide because the hyperparameters were tuned for the daily arm and the sweep that rules out a misconfigured hourly arm has not finished. Mention it verbally as preliminary if asked what surprised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spAutoFit/>
          </a:bodyPr>
          <a:lstStyle/>
          <a:p>
            <a:pPr algn="l">
              <a:lnSpc>
                <a:spcPct val="115000"/>
              </a:lnSpc>
            </a:pPr>
            <a:r>
              <a:rPr sz="4000" b="1">
                <a:solidFill>
                  <a:srgbClr val="1A1A1A"/>
                </a:solidFill>
                <a:latin typeface="Calibri"/>
              </a:rPr>
              <a:t>Daily observations are enough to transfer</a:t>
            </a:r>
          </a:p>
          <a:p>
            <a:pPr algn="l">
              <a:lnSpc>
                <a:spcPct val="115000"/>
              </a:lnSpc>
            </a:pPr>
            <a:r>
              <a:rPr sz="4000" b="1">
                <a:solidFill>
                  <a:srgbClr val="1A1A1A"/>
                </a:solidFill>
                <a:latin typeface="Calibri"/>
              </a:rPr>
              <a:t>an hourly streamflow model</a:t>
            </a:r>
          </a:p>
        </p:txBody>
      </p:sp>
      <p:sp>
        <p:nvSpPr>
          <p:cNvPr id="3" name="TextBox 2"/>
          <p:cNvSpPr txBox="1"/>
          <p:nvPr/>
        </p:nvSpPr>
        <p:spPr>
          <a:xfrm>
            <a:off x="822960" y="3749039"/>
            <a:ext cx="10515600" cy="914400"/>
          </a:xfrm>
          <a:prstGeom prst="rect">
            <a:avLst/>
          </a:prstGeom>
          <a:noFill/>
        </p:spPr>
        <p:txBody>
          <a:bodyPr wrap="square">
            <a:spAutoFit/>
          </a:bodyPr>
          <a:lstStyle/>
          <a:p>
            <a:pPr algn="l">
              <a:lnSpc>
                <a:spcPct val="115000"/>
              </a:lnSpc>
            </a:pPr>
            <a:r>
              <a:rPr sz="1700" b="0">
                <a:solidFill>
                  <a:srgbClr val="5A5A58"/>
                </a:solidFill>
                <a:latin typeface="Calibri"/>
              </a:rPr>
              <a:t>Phase I, global hourly streamflow. 8,843 gauges across six agencies, five-fold cross-validation,</a:t>
            </a:r>
          </a:p>
          <a:p>
            <a:pPr algn="l">
              <a:lnSpc>
                <a:spcPct val="115000"/>
              </a:lnSpc>
            </a:pPr>
            <a:r>
              <a:rPr sz="1700" b="0">
                <a:solidFill>
                  <a:srgbClr val="5A5A58"/>
                </a:solidFill>
                <a:latin typeface="Calibri"/>
              </a:rPr>
              <a:t>plus 282 African basins as an external test.</a:t>
            </a:r>
          </a:p>
        </p:txBody>
      </p:sp>
      <p:sp>
        <p:nvSpPr>
          <p:cNvPr id="4" name="TextBox 3"/>
          <p:cNvSpPr txBox="1"/>
          <p:nvPr/>
        </p:nvSpPr>
        <p:spPr>
          <a:xfrm>
            <a:off x="822960" y="5669280"/>
            <a:ext cx="10515600" cy="457200"/>
          </a:xfrm>
          <a:prstGeom prst="rect">
            <a:avLst/>
          </a:prstGeom>
          <a:noFill/>
        </p:spPr>
        <p:txBody>
          <a:bodyPr wrap="square">
            <a:spAutoFit/>
          </a:bodyPr>
          <a:lstStyle/>
          <a:p>
            <a:pPr algn="l">
              <a:lnSpc>
                <a:spcPct val="115000"/>
              </a:lnSpc>
            </a:pPr>
            <a:r>
              <a:rPr sz="1400" b="0">
                <a:solidFill>
                  <a:srgbClr val="5A5A58"/>
                </a:solidFill>
                <a:latin typeface="Calibri"/>
              </a:rPr>
              <a:t>Weikang Kong  ·  KAUST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problem is coverage, not accuracy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800" b="0">
                <a:solidFill>
                  <a:srgbClr val="1A1A1A"/>
                </a:solidFill>
                <a:latin typeface="Calibri"/>
              </a:rPr>
              <a:t>Flood forecasting needs hourly resolution. Hourly discharge records do not exist in most of the world.</a:t>
            </a:r>
          </a:p>
          <a:p>
            <a:pPr algn="l">
              <a:lnSpc>
                <a:spcPct val="145000"/>
              </a:lnSpc>
            </a:pPr>
            <a:r>
              <a:rPr sz="1800" b="0">
                <a:solidFill>
                  <a:srgbClr val="1A1A1A"/>
                </a:solidFill>
                <a:latin typeface="Calibri"/>
              </a:rPr>
              <a:t/>
            </a:r>
          </a:p>
          <a:p>
            <a:pPr algn="l">
              <a:lnSpc>
                <a:spcPct val="145000"/>
              </a:lnSpc>
            </a:pPr>
            <a:r>
              <a:rPr sz="1800" b="1">
                <a:solidFill>
                  <a:srgbClr val="EB6834"/>
                </a:solidFill>
                <a:latin typeface="Calibri"/>
              </a:rPr>
              <a:t>CAMELSH alone contributes 5,767 US gauges. All 282 African basins tested here have zero hourly discharge.</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If an hourly model needs hourly data to adapt, it can never reach the regions that need it most.</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Phase I asks whether daily observations, which most of the world does have, are enough to adapt 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result: the harder the test, the more daily data helps</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3_headline.png"/>
          <p:cNvPicPr>
            <a:picLocks noChangeAspect="1"/>
          </p:cNvPicPr>
          <p:nvPr/>
        </p:nvPicPr>
        <p:blipFill>
          <a:blip r:embed="rId2"/>
          <a:stretch>
            <a:fillRect/>
          </a:stretch>
        </p:blipFill>
        <p:spPr>
          <a:xfrm>
            <a:off x="3105310" y="1627632"/>
            <a:ext cx="5981075" cy="3200400"/>
          </a:xfrm>
          <a:prstGeom prst="rect">
            <a:avLst/>
          </a:prstGeom>
        </p:spPr>
      </p:pic>
      <p:sp>
        <p:nvSpPr>
          <p:cNvPr id="5" name="TextBox 4"/>
          <p:cNvSpPr txBox="1"/>
          <p:nvPr/>
        </p:nvSpPr>
        <p:spPr>
          <a:xfrm>
            <a:off x="640080" y="5029200"/>
            <a:ext cx="10881360" cy="1148080"/>
          </a:xfrm>
          <a:prstGeom prst="rect">
            <a:avLst/>
          </a:prstGeom>
          <a:noFill/>
        </p:spPr>
        <p:txBody>
          <a:bodyPr wrap="square">
            <a:spAutoFit/>
          </a:bodyPr>
          <a:lstStyle/>
          <a:p>
            <a:pPr algn="l">
              <a:lnSpc>
                <a:spcPct val="130000"/>
              </a:lnSpc>
            </a:pPr>
            <a:r>
              <a:rPr sz="1600" b="1">
                <a:solidFill>
                  <a:srgbClr val="EB6834"/>
                </a:solidFill>
                <a:latin typeface="Calibri"/>
              </a:rPr>
              <a:t>The gain grows from +0.062 to +0.133 to +0.409 as the test gets harder, while the two temperate endpoints land 0.004 apart.</a:t>
            </a:r>
          </a:p>
          <a:p>
            <a:pPr algn="l">
              <a:lnSpc>
                <a:spcPct val="130000"/>
              </a:lnSpc>
            </a:pPr>
            <a:r>
              <a:rPr sz="1600" b="0">
                <a:solidFill>
                  <a:srgbClr val="1A1A1A"/>
                </a:solidFill>
                <a:latin typeface="Calibri"/>
              </a:rPr>
              <a:t>The zero-shot baseline's apparent skill was partly spatial proximity. The gain from daily data was not.</a:t>
            </a:r>
          </a:p>
        </p:txBody>
      </p:sp>
      <p:sp>
        <p:nvSpPr>
          <p:cNvPr id="6" name="TextBox 5"/>
          <p:cNvSpPr txBox="1"/>
          <p:nvPr/>
        </p:nvSpPr>
        <p:spPr>
          <a:xfrm>
            <a:off x="640080" y="6232144"/>
            <a:ext cx="10881360" cy="412749"/>
          </a:xfrm>
          <a:prstGeom prst="rect">
            <a:avLst/>
          </a:prstGeom>
          <a:noFill/>
        </p:spPr>
        <p:txBody>
          <a:bodyPr wrap="square">
            <a:spAutoFit/>
          </a:bodyPr>
          <a:lstStyle/>
          <a:p>
            <a:pPr algn="l">
              <a:lnSpc>
                <a:spcPct val="115000"/>
              </a:lnSpc>
            </a:pPr>
            <a:r>
              <a:rPr sz="1100" b="0">
                <a:solidFill>
                  <a:srgbClr val="5A5A58"/>
                </a:solidFill>
                <a:latin typeface="Calibri"/>
              </a:rPr>
              <a:t>Fine-tuning uses 24-hour aggregates only. The target stations' hourly observations are hidden from the loss and from epoch selection, and used solely for scoring.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Why it works, and what it cannot do</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_component_deficits.png"/>
          <p:cNvPicPr>
            <a:picLocks noChangeAspect="1"/>
          </p:cNvPicPr>
          <p:nvPr/>
        </p:nvPicPr>
        <p:blipFill>
          <a:blip r:embed="rId2"/>
          <a:stretch>
            <a:fillRect/>
          </a:stretch>
        </p:blipFill>
        <p:spPr>
          <a:xfrm>
            <a:off x="1977584" y="1627632"/>
            <a:ext cx="8236527" cy="2743200"/>
          </a:xfrm>
          <a:prstGeom prst="rect">
            <a:avLst/>
          </a:prstGeom>
        </p:spPr>
      </p:pic>
      <p:sp>
        <p:nvSpPr>
          <p:cNvPr id="5" name="TextBox 4"/>
          <p:cNvSpPr txBox="1"/>
          <p:nvPr/>
        </p:nvSpPr>
        <p:spPr>
          <a:xfrm>
            <a:off x="640080" y="457200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 24-hour total carries magnitude information and no sub-daily timing information, so it should repair amplitude and volume and leave timing alone.</a:t>
            </a:r>
          </a:p>
          <a:p>
            <a:pPr algn="l">
              <a:lnSpc>
                <a:spcPct val="130000"/>
              </a:lnSpc>
            </a:pPr>
            <a:r>
              <a:rPr sz="1600" b="1">
                <a:solidFill>
                  <a:srgbClr val="EB6834"/>
                </a:solidFill>
                <a:latin typeface="Calibri"/>
              </a:rPr>
              <a:t>It does. Temperate: 25% of the magnitude deficit against 7% of the timing deficit. Africa: 72% against 32%.</a:t>
            </a:r>
          </a:p>
        </p:txBody>
      </p:sp>
      <p:sp>
        <p:nvSpPr>
          <p:cNvPr id="6" name="TextBox 5"/>
          <p:cNvSpPr txBox="1"/>
          <p:nvPr/>
        </p:nvSpPr>
        <p:spPr>
          <a:xfrm>
            <a:off x="640080" y="5774944"/>
            <a:ext cx="10881360" cy="252095"/>
          </a:xfrm>
          <a:prstGeom prst="rect">
            <a:avLst/>
          </a:prstGeom>
          <a:noFill/>
        </p:spPr>
        <p:txBody>
          <a:bodyPr wrap="square">
            <a:spAutoFit/>
          </a:bodyPr>
          <a:lstStyle/>
          <a:p>
            <a:pPr algn="l">
              <a:lnSpc>
                <a:spcPct val="115000"/>
              </a:lnSpc>
            </a:pPr>
            <a:r>
              <a:rPr sz="1100" b="0">
                <a:solidFill>
                  <a:srgbClr val="5A5A58"/>
                </a:solidFill>
                <a:latin typeface="Calibri"/>
              </a:rPr>
              <a:t>Deficit is 1 - r for the correlation and |log2 x| for the two ratios, so only the fraction removed is comparable across components.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blocked split, agency by agency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4_agency_recovery.png"/>
          <p:cNvPicPr>
            <a:picLocks noChangeAspect="1"/>
          </p:cNvPicPr>
          <p:nvPr/>
        </p:nvPicPr>
        <p:blipFill>
          <a:blip r:embed="rId2"/>
          <a:stretch>
            <a:fillRect/>
          </a:stretch>
        </p:blipFill>
        <p:spPr>
          <a:xfrm>
            <a:off x="2527667" y="1627632"/>
            <a:ext cx="7136360" cy="2926080"/>
          </a:xfrm>
          <a:prstGeom prst="rect">
            <a:avLst/>
          </a:prstGeom>
        </p:spPr>
      </p:pic>
      <p:sp>
        <p:nvSpPr>
          <p:cNvPr id="5" name="TextBox 4"/>
          <p:cNvSpPr txBox="1"/>
          <p:nvPr/>
        </p:nvSpPr>
        <p:spPr>
          <a:xfrm>
            <a:off x="640080" y="4754880"/>
            <a:ext cx="10881360" cy="883920"/>
          </a:xfrm>
          <a:prstGeom prst="rect">
            <a:avLst/>
          </a:prstGeom>
          <a:noFill/>
        </p:spPr>
        <p:txBody>
          <a:bodyPr wrap="square">
            <a:spAutoFit/>
          </a:bodyPr>
          <a:lstStyle/>
          <a:p>
            <a:pPr algn="l">
              <a:lnSpc>
                <a:spcPct val="130000"/>
              </a:lnSpc>
            </a:pPr>
            <a:r>
              <a:rPr sz="1600" b="1">
                <a:solidFill>
                  <a:srgbClr val="EB6834"/>
                </a:solidFill>
                <a:latin typeface="Calibri"/>
              </a:rPr>
              <a:t>Five of six networks recover 85 to 102 percent of what spatial blocking costs. Iceland, with 73 gauges, recovers 38 percent.</a:t>
            </a:r>
          </a:p>
          <a:p>
            <a:pPr algn="l">
              <a:lnSpc>
                <a:spcPct val="130000"/>
              </a:lnSpc>
            </a:pPr>
            <a:r>
              <a:rPr sz="1600" b="0">
                <a:solidFill>
                  <a:srgbClr val="1A1A1A"/>
                </a:solidFill>
                <a:latin typeface="Calibri"/>
              </a:rPr>
              <a:t>The method is weakest exactly where the gauge network is sparsest, which is worth stating plainly.</a:t>
            </a:r>
          </a:p>
        </p:txBody>
      </p:sp>
      <p:sp>
        <p:nvSpPr>
          <p:cNvPr id="6" name="TextBox 5"/>
          <p:cNvSpPr txBox="1"/>
          <p:nvPr/>
        </p:nvSpPr>
        <p:spPr>
          <a:xfrm>
            <a:off x="640080" y="5693664"/>
            <a:ext cx="10881360" cy="252095"/>
          </a:xfrm>
          <a:prstGeom prst="rect">
            <a:avLst/>
          </a:prstGeom>
          <a:noFill/>
        </p:spPr>
        <p:txBody>
          <a:bodyPr wrap="square">
            <a:spAutoFit/>
          </a:bodyPr>
          <a:lstStyle/>
          <a:p>
            <a:pPr algn="l">
              <a:lnSpc>
                <a:spcPct val="115000"/>
              </a:lnSpc>
            </a:pPr>
            <a:r>
              <a:rPr sz="1100" b="0">
                <a:solidFill>
                  <a:srgbClr val="5A5A58"/>
                </a:solidFill>
                <a:latin typeface="Calibri"/>
              </a:rPr>
              <a:t>Blocking is 120 k-means blocks on 3-D unit vectors, packed whole into five folds, so fold sizes stay within 10 gauges of the random split's.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cost to the source domain, and how much of it comes back</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_replay.png"/>
          <p:cNvPicPr>
            <a:picLocks noChangeAspect="1"/>
          </p:cNvPicPr>
          <p:nvPr/>
        </p:nvPicPr>
        <p:blipFill>
          <a:blip r:embed="rId2"/>
          <a:stretch>
            <a:fillRect/>
          </a:stretch>
        </p:blipFill>
        <p:spPr>
          <a:xfrm>
            <a:off x="2617294" y="1627632"/>
            <a:ext cx="6957107" cy="2834640"/>
          </a:xfrm>
          <a:prstGeom prst="rect">
            <a:avLst/>
          </a:prstGeom>
        </p:spPr>
      </p:pic>
      <p:sp>
        <p:nvSpPr>
          <p:cNvPr id="5" name="TextBox 4"/>
          <p:cNvSpPr txBox="1"/>
          <p:nvPr/>
        </p:nvSpPr>
        <p:spPr>
          <a:xfrm>
            <a:off x="640080" y="466344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Adapting to the daily domain degrades the hourly one: the median source gauge loses 0.054 KGE, in every fold.</a:t>
            </a:r>
          </a:p>
          <a:p>
            <a:pPr algn="l">
              <a:lnSpc>
                <a:spcPct val="130000"/>
              </a:lnSpc>
            </a:pPr>
            <a:r>
              <a:rPr sz="1600" b="1">
                <a:solidFill>
                  <a:srgbClr val="EB6834"/>
                </a:solidFill>
                <a:latin typeface="Calibri"/>
              </a:rPr>
              <a:t>Replaying source batches returns 29% of it under a random split and 54% under a blocked one, at 4.1 to 1 and 5.4 to 1.</a:t>
            </a:r>
          </a:p>
        </p:txBody>
      </p:sp>
      <p:sp>
        <p:nvSpPr>
          <p:cNvPr id="6" name="TextBox 5"/>
          <p:cNvSpPr txBox="1"/>
          <p:nvPr/>
        </p:nvSpPr>
        <p:spPr>
          <a:xfrm>
            <a:off x="640080" y="5866383"/>
            <a:ext cx="10881360" cy="252095"/>
          </a:xfrm>
          <a:prstGeom prst="rect">
            <a:avLst/>
          </a:prstGeom>
          <a:noFill/>
        </p:spPr>
        <p:txBody>
          <a:bodyPr wrap="square">
            <a:spAutoFit/>
          </a:bodyPr>
          <a:lstStyle/>
          <a:p>
            <a:pPr algn="l">
              <a:lnSpc>
                <a:spcPct val="115000"/>
              </a:lnSpc>
            </a:pPr>
            <a:r>
              <a:rPr sz="1100" b="0">
                <a:solidFill>
                  <a:srgbClr val="5A5A58"/>
                </a:solidFill>
                <a:latin typeface="Calibri"/>
              </a:rPr>
              <a:t>Replay is legitimate rather than leakage: the premise hides the target stations' hourly data and never the source's. Paired per gauge.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Where this stands, and what is still running</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600" b="0">
                <a:solidFill>
                  <a:srgbClr val="1A1A1A"/>
                </a:solidFill>
                <a:latin typeface="Calibri"/>
              </a:rPr>
              <a:t>Settled</a:t>
            </a:r>
          </a:p>
          <a:p>
            <a:pPr algn="l">
              <a:lnSpc>
                <a:spcPct val="145000"/>
              </a:lnSpc>
            </a:pPr>
            <a:r>
              <a:rPr sz="1600" b="0">
                <a:solidFill>
                  <a:srgbClr val="1A1A1A"/>
                </a:solidFill>
                <a:latin typeface="Calibri"/>
              </a:rPr>
              <a:t>  Five-fold cross-validation on 8,843 gauges, six agencies</a:t>
            </a:r>
          </a:p>
          <a:p>
            <a:pPr algn="l">
              <a:lnSpc>
                <a:spcPct val="145000"/>
              </a:lnSpc>
            </a:pPr>
            <a:r>
              <a:rPr sz="1600" b="0">
                <a:solidFill>
                  <a:srgbClr val="1A1A1A"/>
                </a:solidFill>
                <a:latin typeface="Calibri"/>
              </a:rPr>
              <a:t>  Spatially blocked split, 10.4 km to 94.9 km nearest trainable neighbour</a:t>
            </a:r>
          </a:p>
          <a:p>
            <a:pPr algn="l">
              <a:lnSpc>
                <a:spcPct val="145000"/>
              </a:lnSpc>
            </a:pPr>
            <a:r>
              <a:rPr sz="1600" b="0">
                <a:solidFill>
                  <a:srgbClr val="1A1A1A"/>
                </a:solidFill>
                <a:latin typeface="Calibri"/>
              </a:rPr>
              <a:t>  External test on 282 African basins, none seen in training</a:t>
            </a:r>
          </a:p>
          <a:p>
            <a:pPr algn="l">
              <a:lnSpc>
                <a:spcPct val="145000"/>
              </a:lnSpc>
            </a:pPr>
            <a:r>
              <a:rPr sz="1600" b="0">
                <a:solidFill>
                  <a:srgbClr val="1A1A1A"/>
                </a:solidFill>
                <a:latin typeface="Calibri"/>
              </a:rPr>
              <a:t>  Single-variable ablation, all five folds:</a:t>
            </a:r>
          </a:p>
          <a:p>
            <a:pPr algn="l">
              <a:lnSpc>
                <a:spcPct val="145000"/>
              </a:lnSpc>
            </a:pPr>
            <a:r>
              <a:rPr sz="1600" b="0">
                <a:solidFill>
                  <a:srgbClr val="1A1A1A"/>
                </a:solidFill>
                <a:latin typeface="Calibri"/>
              </a:rPr>
              <a:t>  forget gate 0 -&gt; 3: +0.0176 (sd 0.0086, 5 folds)</a:t>
            </a:r>
          </a:p>
          <a:p>
            <a:pPr algn="l">
              <a:lnSpc>
                <a:spcPct val="145000"/>
              </a:lnSpc>
            </a:pPr>
            <a:r>
              <a:rPr sz="1600" b="0">
                <a:solidFill>
                  <a:srgbClr val="1A1A1A"/>
                </a:solidFill>
                <a:latin typeface="Calibri"/>
              </a:rPr>
              <a:t>  hourly look-back 72 -&gt; 336: +0.0581 (sd 0.0313, 5 folds)</a:t>
            </a:r>
          </a:p>
          <a:p>
            <a:pPr algn="l">
              <a:lnSpc>
                <a:spcPct val="145000"/>
              </a:lnSpc>
            </a:pPr>
            <a:r>
              <a:rPr sz="1600" b="0">
                <a:solidFill>
                  <a:srgbClr val="1A1A1A"/>
                </a:solidFill>
                <a:latin typeface="Calibri"/>
              </a:rPr>
              <a:t/>
            </a:r>
          </a:p>
          <a:p>
            <a:pPr algn="l">
              <a:lnSpc>
                <a:spcPct val="145000"/>
              </a:lnSpc>
            </a:pPr>
            <a:r>
              <a:rPr sz="1600" b="0">
                <a:solidFill>
                  <a:srgbClr val="1A1A1A"/>
                </a:solidFill>
                <a:latin typeface="Calibri"/>
              </a:rPr>
              <a:t>Running</a:t>
            </a:r>
          </a:p>
          <a:p>
            <a:pPr algn="l">
              <a:lnSpc>
                <a:spcPct val="145000"/>
              </a:lnSpc>
            </a:pPr>
            <a:r>
              <a:rPr sz="1600" b="1">
                <a:solidFill>
                  <a:srgbClr val="EB6834"/>
                </a:solidFill>
                <a:latin typeface="Calibri"/>
              </a:rPr>
              <a:t>  Rescaling control: is the gain more than a per-gauge stretch of the zero-shot output? This is the one that decides how large a claim the paper can make.</a:t>
            </a:r>
          </a:p>
          <a:p>
            <a:pPr algn="l">
              <a:lnSpc>
                <a:spcPct val="145000"/>
              </a:lnSpc>
            </a:pPr>
            <a:r>
              <a:rPr sz="1600" b="0">
                <a:solidFill>
                  <a:srgbClr val="1A1A1A"/>
                </a:solidFill>
                <a:latin typeface="Calibri"/>
              </a:rPr>
              <a:t>  Learning-rate sweep, 30 jobs across three arms, testing an unexpected result under a configuration tuned for each arm</a:t>
            </a:r>
          </a:p>
          <a:p>
            <a:pPr algn="l">
              <a:lnSpc>
                <a:spcPct val="145000"/>
              </a:lnSpc>
            </a:pPr>
            <a:r>
              <a:rPr sz="1600" b="0">
                <a:solidFill>
                  <a:srgbClr val="1A1A1A"/>
                </a:solidFill>
                <a:latin typeface="Calibri"/>
              </a:rPr>
              <a:t/>
            </a:r>
          </a:p>
          <a:p>
            <a:pPr algn="l">
              <a:lnSpc>
                <a:spcPct val="145000"/>
              </a:lnSpc>
            </a:pPr>
            <a:r>
              <a:rPr sz="1600" b="0">
                <a:solidFill>
                  <a:srgbClr val="1A1A1A"/>
                </a:solidFill>
                <a:latin typeface="Calibri"/>
              </a:rPr>
              <a:t>Publication</a:t>
            </a:r>
          </a:p>
          <a:p>
            <a:pPr algn="l">
              <a:lnSpc>
                <a:spcPct val="145000"/>
              </a:lnSpc>
            </a:pPr>
            <a:r>
              <a:rPr sz="1600" b="0">
                <a:solidFill>
                  <a:srgbClr val="1A1A1A"/>
                </a:solidFill>
                <a:latin typeface="Calibri"/>
              </a:rPr>
              <a:t>  Solid for HESS or WRR now. A favourable rescaling control opens a higher venue.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